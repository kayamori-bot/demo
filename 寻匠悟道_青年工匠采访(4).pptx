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3" r:id="rId10"/>
    <p:sldId id="267" r:id="rId17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5F8F"/>
    <a:srgbClr val="5B75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24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封面：本次分享的主线——先在时代趋势下追问自己，再去采访一位青年工匠，最后形成结论并落实到行动。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整体思路：时代之问 → 寻匠采访 → 悟道践行。三个圆环相扣，寓意一步一步接续推进。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第一章：先看时代。AI 浪潮、产业升级、深圳速度，是摆在我们这代青年面前的三个关键词。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时代的变化落到自己身上，就是三个追问。空想没有答案，于是我们决定去找一位青年工匠聊一聊。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第二章：寻匠。采访对象是一位青年工匠学长，主题是以个人成长见深圳发展；采访成果将在采访后补充。'匠'字从此页起锚定画面左侧。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Q1/Q2 实际回答：城市印象——近五十年的中国看深圳；大学选择——先选材料赛道，实习围绕锂电产业，竞赛参加挑战杯、互联网+并获成绩。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Q3/Q4/Q5 实际回答：就业或升学的方向性选择；没走弯路而是另辟蹊径；三条核心建议——学习、心态、规划。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结论已按实际采访修正：方向锚定大湾区；没有弯路，只有另辟蹊径；AI 的底层是材料。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行动方案对应学长三条建议：学习、心态、规划，并延伸 AI 与材料的观察。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结语：采访尚未完成，结论与成果将在采访后补充进这份 PPT。寻匠悟道，答案在路上。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Relationship Id="rId6" Type="http://schemas.openxmlformats.org/officeDocument/2006/relationships/image" Target="../media/image14.png"/><Relationship Id="rId7" Type="http://schemas.openxmlformats.org/officeDocument/2006/relationships/image" Target="../media/image15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image" Target="../media/image3.png"/><Relationship Id="rId3" Type="http://schemas.openxmlformats.org/officeDocument/2006/relationships/image" Target="../media/image4.svg"/><Relationship Id="rId4" Type="http://schemas.openxmlformats.org/officeDocument/2006/relationships/image" Target="../media/image17.png"/><Relationship Id="rId5" Type="http://schemas.openxmlformats.org/officeDocument/2006/relationships/image" Target="../media/image18.svg"/><Relationship Id="rId6" Type="http://schemas.openxmlformats.org/officeDocument/2006/relationships/image" Target="../media/image19.png"/><Relationship Id="rId7" Type="http://schemas.openxmlformats.org/officeDocument/2006/relationships/image" Target="../media/image20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1.png"/><Relationship Id="rId3" Type="http://schemas.openxmlformats.org/officeDocument/2006/relationships/image" Target="../media/image22.sv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23.png"/><Relationship Id="rId7" Type="http://schemas.openxmlformats.org/officeDocument/2006/relationships/image" Target="../media/image24.svg"/><Relationship Id="rId8" Type="http://schemas.openxmlformats.org/officeDocument/2006/relationships/image" Target="../media/image25.png"/><Relationship Id="rId9" Type="http://schemas.openxmlformats.org/officeDocument/2006/relationships/image" Target="../media/image26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tags" Target="../tags/tag9.xml"/><Relationship Id="rId3" Type="http://schemas.openxmlformats.org/officeDocument/2006/relationships/tags" Target="../tags/tag10.xml"/><Relationship Id="rId4" Type="http://schemas.openxmlformats.org/officeDocument/2006/relationships/tags" Target="../tags/tag11.xml"/><Relationship Id="rId5" Type="http://schemas.openxmlformats.org/officeDocument/2006/relationships/tags" Target="../tags/tag12.xml"/><Relationship Id="rId6" Type="http://schemas.openxmlformats.org/officeDocument/2006/relationships/tags" Target="../tags/tag13.xml"/><Relationship Id="rId7" Type="http://schemas.openxmlformats.org/officeDocument/2006/relationships/tags" Target="../tags/tag14.xml"/><Relationship Id="rId8" Type="http://schemas.openxmlformats.org/officeDocument/2006/relationships/tags" Target="../tags/tag15.xml"/><Relationship Id="rId9" Type="http://schemas.openxmlformats.org/officeDocument/2006/relationships/tags" Target="../tags/tag16.xml"/><Relationship Id="rId10" Type="http://schemas.openxmlformats.org/officeDocument/2006/relationships/tags" Target="../tags/tag17.xml"/><Relationship Id="rId11" Type="http://schemas.openxmlformats.org/officeDocument/2006/relationships/tags" Target="../tags/tag18.xml"/><Relationship Id="rId12" Type="http://schemas.openxmlformats.org/officeDocument/2006/relationships/tags" Target="../tags/tag19.xml"/><Relationship Id="rId13" Type="http://schemas.openxmlformats.org/officeDocument/2006/relationships/tags" Target="../tags/tag20.xml"/><Relationship Id="rId14" Type="http://schemas.openxmlformats.org/officeDocument/2006/relationships/tags" Target="../tags/tag21.xml"/><Relationship Id="rId15" Type="http://schemas.openxmlformats.org/officeDocument/2006/relationships/tags" Target="../tags/tag22.xml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27.png"/><Relationship Id="rId3" Type="http://schemas.openxmlformats.org/officeDocument/2006/relationships/image" Target="../media/image28.svg"/><Relationship Id="rId4" Type="http://schemas.openxmlformats.org/officeDocument/2006/relationships/image" Target="../media/image29.png"/><Relationship Id="rId5" Type="http://schemas.openxmlformats.org/officeDocument/2006/relationships/image" Target="../media/image30.svg"/><Relationship Id="rId6" Type="http://schemas.openxmlformats.org/officeDocument/2006/relationships/image" Target="../media/image10.png"/><Relationship Id="rId7" Type="http://schemas.openxmlformats.org/officeDocument/2006/relationships/image" Target="../media/image11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image" Target="../media/image31.png"/><Relationship Id="rId3" Type="http://schemas.openxmlformats.org/officeDocument/2006/relationships/image" Target="../media/image32.svg"/><Relationship Id="rId4" Type="http://schemas.openxmlformats.org/officeDocument/2006/relationships/image" Target="../media/image33.png"/><Relationship Id="rId5" Type="http://schemas.openxmlformats.org/officeDocument/2006/relationships/image" Target="../media/image34.svg"/><Relationship Id="rId6" Type="http://schemas.openxmlformats.org/officeDocument/2006/relationships/image" Target="../media/image7.png"/><Relationship Id="rId7" Type="http://schemas.openxmlformats.org/officeDocument/2006/relationships/image" Target="../media/image8.svg"/><Relationship Id="rId8" Type="http://schemas.openxmlformats.org/officeDocument/2006/relationships/image" Target="../media/image35.png"/><Relationship Id="rId9" Type="http://schemas.openxmlformats.org/officeDocument/2006/relationships/image" Target="../media/image36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77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33265" y="1737360"/>
            <a:ext cx="2926080" cy="292608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10305" y="914400"/>
            <a:ext cx="4572000" cy="457200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87345" y="91440"/>
            <a:ext cx="6217920" cy="621792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10305" y="713232"/>
            <a:ext cx="4572000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 dirty="0">
                <a:solidFill>
                  <a:srgbClr val="6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青年工匠采访实践 · 生涯主题分享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867705" y="1170432"/>
            <a:ext cx="457200" cy="27432"/>
          </a:xfrm>
          <a:prstGeom prst="rect">
            <a:avLst/>
          </a:prstGeom>
          <a:solidFill>
            <a:srgbClr val="D9CFBB"/>
          </a:solidFill>
        </p:spPr>
      </p:sp>
      <p:sp>
        <p:nvSpPr>
          <p:cNvPr id="8" name="Text 6"/>
          <p:cNvSpPr/>
          <p:nvPr/>
        </p:nvSpPr>
        <p:spPr>
          <a:xfrm>
            <a:off x="822960" y="1874520"/>
            <a:ext cx="2651760" cy="2651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8500" dirty="0">
                <a:solidFill>
                  <a:srgbClr val="2C5F8F"/>
                </a:solidFill>
                <a:latin typeface="楷体" panose="02010609060101010101" pitchFamily="34" charset="-122"/>
                <a:ea typeface="楷体" panose="02010609060101010101" pitchFamily="34" charset="-122"/>
              </a:rPr>
              <a:t>寻</a:t>
            </a:r>
            <a:endParaRPr lang="en-US" sz="18500" dirty="0"/>
          </a:p>
        </p:txBody>
      </p:sp>
      <p:sp>
        <p:nvSpPr>
          <p:cNvPr id="9" name="Text 7"/>
          <p:cNvSpPr/>
          <p:nvPr/>
        </p:nvSpPr>
        <p:spPr>
          <a:xfrm>
            <a:off x="6126480" y="1874520"/>
            <a:ext cx="2651760" cy="2651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8500" dirty="0">
                <a:solidFill>
                  <a:srgbClr val="20344B"/>
                </a:solidFill>
                <a:latin typeface="楷体" panose="02010609060101010101" pitchFamily="34" charset="-122"/>
                <a:ea typeface="楷体" panose="02010609060101010101" pitchFamily="34" charset="-122"/>
              </a:rPr>
              <a:t>悟</a:t>
            </a:r>
            <a:endParaRPr lang="en-US" sz="18500" dirty="0"/>
          </a:p>
        </p:txBody>
      </p:sp>
      <p:sp>
        <p:nvSpPr>
          <p:cNvPr id="10" name="Text 8"/>
          <p:cNvSpPr/>
          <p:nvPr/>
        </p:nvSpPr>
        <p:spPr>
          <a:xfrm>
            <a:off x="3810305" y="4983480"/>
            <a:ext cx="4572000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kern="0" spc="2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时代之问  ·  寻匠之旅  ·  悟道之行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639105" y="6263640"/>
            <a:ext cx="914400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7C8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2026.10</a:t>
            </a:r>
            <a:endParaRPr lang="en-US" sz="1000" dirty="0"/>
          </a:p>
        </p:txBody>
      </p:sp>
      <p:sp>
        <p:nvSpPr>
          <p:cNvPr id="12" name="Text 6"/>
          <p:cNvSpPr/>
          <p:nvPr/>
        </p:nvSpPr>
        <p:spPr>
          <a:xfrm>
            <a:off x="3474720" y="1874520"/>
            <a:ext cx="2651760" cy="2651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500" dirty="0">
                <a:solidFill>
                  <a:srgbClr val="2C5F8F"/>
                </a:solidFill>
                <a:latin typeface="楷体" panose="02010609060101010101" pitchFamily="34" charset="-122"/>
                <a:ea typeface="楷体" panose="02010609060101010101" pitchFamily="34" charset="-122"/>
                <a:cs typeface="楷体" panose="02010609060101010101" pitchFamily="34" charset="-120"/>
              </a:rPr>
              <a:t>匠</a:t>
            </a:r>
            <a:endParaRPr lang="en-US" sz="18500" dirty="0"/>
          </a:p>
        </p:txBody>
      </p:sp>
      <p:sp>
        <p:nvSpPr>
          <p:cNvPr id="13" name="Text 7"/>
          <p:cNvSpPr/>
          <p:nvPr/>
        </p:nvSpPr>
        <p:spPr>
          <a:xfrm>
            <a:off x="8778240" y="1874520"/>
            <a:ext cx="2651760" cy="2651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8500" dirty="0">
                <a:solidFill>
                  <a:srgbClr val="20344B"/>
                </a:solidFill>
                <a:latin typeface="楷体" panose="02010609060101010101" pitchFamily="34" charset="-122"/>
                <a:ea typeface="楷体" panose="02010609060101010101" pitchFamily="34" charset="-122"/>
                <a:cs typeface="楷体" panose="02010609060101010101" pitchFamily="34" charset="-120"/>
              </a:rPr>
              <a:t>道</a:t>
            </a:r>
            <a:endParaRPr lang="en-US" sz="185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993185" y="1280160"/>
            <a:ext cx="4206240" cy="4206240"/>
          </a:xfrm>
          <a:prstGeom prst="ellipse">
            <a:avLst/>
          </a:prstGeom>
          <a:ln w="13970">
            <a:solidFill>
              <a:srgbClr val="E0E7E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3353105" y="640080"/>
            <a:ext cx="5486400" cy="5486400"/>
          </a:xfrm>
          <a:prstGeom prst="ellipse">
            <a:avLst/>
          </a:prstGeom>
          <a:ln w="13970">
            <a:solidFill>
              <a:srgbClr val="E0E7E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13025" y="0"/>
            <a:ext cx="6766560" cy="6766560"/>
          </a:xfrm>
          <a:prstGeom prst="ellipse">
            <a:avLst/>
          </a:prstGeom>
          <a:ln w="13970">
            <a:solidFill>
              <a:srgbClr val="E0E7EF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920240" y="2926080"/>
            <a:ext cx="1371600" cy="1371600"/>
          </a:xfrm>
          <a:prstGeom prst="ellipse">
            <a:avLst/>
          </a:prstGeom>
          <a:solidFill>
            <a:srgbClr val="F7F2E9"/>
          </a:solidFill>
          <a:ln w="17780">
            <a:solidFill>
              <a:srgbClr val="2C5F8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181905" y="566928"/>
            <a:ext cx="1828800" cy="3108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6E93B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思路总览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53105" y="960120"/>
            <a:ext cx="5486400" cy="6583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三个问题，一条主线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707685" y="1746504"/>
            <a:ext cx="777240" cy="41148"/>
          </a:xfrm>
          <a:prstGeom prst="rect">
            <a:avLst/>
          </a:prstGeom>
          <a:solidFill>
            <a:srgbClr val="2C5F8F"/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520440" y="3611880"/>
            <a:ext cx="1661465" cy="0"/>
          </a:xfrm>
          <a:prstGeom prst="line">
            <a:avLst/>
          </a:prstGeom>
          <a:noFill/>
          <a:ln w="17780">
            <a:solidFill>
              <a:srgbClr val="C7D6E4"/>
            </a:solidFill>
            <a:prstDash val="dash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010705" y="3611880"/>
            <a:ext cx="1657807" cy="0"/>
          </a:xfrm>
          <a:prstGeom prst="line">
            <a:avLst/>
          </a:prstGeom>
          <a:noFill/>
          <a:ln w="17780">
            <a:solidFill>
              <a:srgbClr val="C7D6E4"/>
            </a:solidFill>
            <a:prstDash val="dash"/>
          </a:ln>
        </p:spPr>
        <p:txBody>
          <a:bodyPr/>
          <a:p/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8296" y="3300984"/>
            <a:ext cx="475488" cy="4754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2331720" y="3831336"/>
            <a:ext cx="548640" cy="237744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9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417320" y="4498848"/>
            <a:ext cx="2377440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时代之问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143000" y="4864608"/>
            <a:ext cx="2926080" cy="2926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趋势下的自我思考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10505" y="2926080"/>
            <a:ext cx="1371600" cy="1371600"/>
          </a:xfrm>
          <a:prstGeom prst="ellipse">
            <a:avLst/>
          </a:prstGeom>
          <a:solidFill>
            <a:srgbClr val="F7F2E9"/>
          </a:solidFill>
          <a:ln w="17780">
            <a:solidFill>
              <a:srgbClr val="2C5F8F"/>
            </a:solidFill>
            <a:prstDash val="solid"/>
          </a:ln>
        </p:spPr>
        <p:txBody>
          <a:bodyPr/>
          <a:p/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58561" y="3300984"/>
            <a:ext cx="475488" cy="4754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821985" y="3831336"/>
            <a:ext cx="548640" cy="237744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9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907585" y="4498848"/>
            <a:ext cx="2377440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寻匠采访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4633265" y="4864608"/>
            <a:ext cx="2926080" cy="2926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对话一位青年工匠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897112" y="2926080"/>
            <a:ext cx="1371600" cy="1371600"/>
          </a:xfrm>
          <a:prstGeom prst="ellipse">
            <a:avLst/>
          </a:prstGeom>
          <a:solidFill>
            <a:srgbClr val="F7F2E9"/>
          </a:solidFill>
          <a:ln w="17780">
            <a:solidFill>
              <a:srgbClr val="2C5F8F"/>
            </a:solidFill>
            <a:prstDash val="solid"/>
          </a:ln>
        </p:spPr>
        <p:txBody>
          <a:bodyPr/>
          <a:p/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5168" y="3300984"/>
            <a:ext cx="475488" cy="4754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308592" y="3831336"/>
            <a:ext cx="548640" cy="237744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E93B8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8394192" y="4498848"/>
            <a:ext cx="2377440" cy="36576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悟道践行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8119872" y="4864608"/>
            <a:ext cx="2926080" cy="2926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结论与我的行动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3353105" y="5989320"/>
            <a:ext cx="5486400" cy="310896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采访已完成，内容与结论均据实际采访整理。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502920" y="6419088"/>
            <a:ext cx="38404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寻匠悟道 · 一次与青年工匠的对话</a:t>
            </a:r>
            <a:endParaRPr lang="en-US" sz="900" dirty="0"/>
          </a:p>
        </p:txBody>
      </p:sp>
      <p:sp>
        <p:nvSpPr>
          <p:cNvPr id="29" name="Text 24"/>
          <p:cNvSpPr/>
          <p:nvPr/>
        </p:nvSpPr>
        <p:spPr>
          <a:xfrm>
            <a:off x="11292840" y="6419088"/>
            <a:ext cx="411480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C8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4"/>
          <p:cNvSpPr/>
          <p:nvPr/>
        </p:nvSpPr>
        <p:spPr>
          <a:xfrm>
            <a:off x="502920" y="6419088"/>
            <a:ext cx="38404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寻匠悟道 · 一次与青年工匠的对话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92840" y="6419088"/>
            <a:ext cx="411480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C8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Shape 0"/>
          <p:cNvSpPr/>
          <p:nvPr/>
        </p:nvSpPr>
        <p:spPr>
          <a:xfrm>
            <a:off x="3993185" y="1280160"/>
            <a:ext cx="4206240" cy="4206240"/>
          </a:xfrm>
          <a:prstGeom prst="ellipse">
            <a:avLst/>
          </a:prstGeom>
          <a:ln w="13970">
            <a:solidFill>
              <a:srgbClr val="E0E7EF"/>
            </a:solidFill>
            <a:prstDash val="solid"/>
          </a:ln>
        </p:spPr>
      </p:sp>
      <p:sp>
        <p:nvSpPr>
          <p:cNvPr id="22" name="Shape 1"/>
          <p:cNvSpPr/>
          <p:nvPr/>
        </p:nvSpPr>
        <p:spPr>
          <a:xfrm>
            <a:off x="3353105" y="640080"/>
            <a:ext cx="5486400" cy="5486400"/>
          </a:xfrm>
          <a:prstGeom prst="ellipse">
            <a:avLst/>
          </a:prstGeom>
          <a:ln w="13970">
            <a:solidFill>
              <a:srgbClr val="E0E7EF"/>
            </a:solidFill>
            <a:prstDash val="solid"/>
          </a:ln>
        </p:spPr>
      </p:sp>
      <p:sp>
        <p:nvSpPr>
          <p:cNvPr id="23" name="Shape 2"/>
          <p:cNvSpPr/>
          <p:nvPr/>
        </p:nvSpPr>
        <p:spPr>
          <a:xfrm>
            <a:off x="2713025" y="0"/>
            <a:ext cx="6766560" cy="6766560"/>
          </a:xfrm>
          <a:prstGeom prst="ellipse">
            <a:avLst/>
          </a:prstGeom>
          <a:ln w="13970">
            <a:solidFill>
              <a:srgbClr val="E0E7E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48255" y="384048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933700" y="480060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54275" y="288036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2291" y="3008376"/>
            <a:ext cx="292608" cy="292608"/>
          </a:xfrm>
          <a:prstGeom prst="rect">
            <a:avLst/>
          </a:prstGeom>
        </p:spPr>
      </p:pic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76271" y="3968496"/>
            <a:ext cx="292608" cy="292608"/>
          </a:xfrm>
          <a:prstGeom prst="rect">
            <a:avLst/>
          </a:prstGeom>
        </p:spPr>
      </p:pic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061716" y="492861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58185" y="2880360"/>
            <a:ext cx="6054090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浪潮</a:t>
            </a:r>
            <a:r>
              <a:rPr lang="en-US" sz="165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</a:t>
            </a:r>
            <a:r>
              <a:rPr lang="en-US" sz="16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工具在变，能力的要求也在变</a:t>
            </a:r>
            <a:endParaRPr lang="en-US" sz="16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3352927" y="3840480"/>
            <a:ext cx="605332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产业升级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r>
              <a:rPr lang="en-US" sz="16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从「制造」走向「创造」</a:t>
            </a:r>
            <a:endParaRPr lang="en-US" sz="16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738372" y="4800600"/>
            <a:ext cx="605332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深圳速度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——</a:t>
            </a:r>
            <a:r>
              <a:rPr lang="en-US" sz="165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机会更多，节奏更快</a:t>
            </a:r>
            <a:endParaRPr lang="en-US" sz="165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651760" y="1280160"/>
            <a:ext cx="6858000" cy="6583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我们正处在一个怎样的时代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651760" y="2066544"/>
            <a:ext cx="777240" cy="41148"/>
          </a:xfrm>
          <a:prstGeom prst="rect">
            <a:avLst/>
          </a:prstGeom>
          <a:solidFill>
            <a:srgbClr val="2C5F8F"/>
          </a:solidFill>
        </p:spPr>
      </p:sp>
      <p:sp>
        <p:nvSpPr>
          <p:cNvPr id="7" name="Text 5"/>
          <p:cNvSpPr/>
          <p:nvPr/>
        </p:nvSpPr>
        <p:spPr>
          <a:xfrm>
            <a:off x="2651760" y="868680"/>
            <a:ext cx="3657600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第一章 · 时代之问</a:t>
            </a:r>
            <a:endParaRPr lang="en-US" sz="1300" dirty="0"/>
          </a:p>
        </p:txBody>
      </p:sp>
      <p:sp>
        <p:nvSpPr>
          <p:cNvPr id="26" name="文本框 25"/>
          <p:cNvSpPr txBox="1"/>
          <p:nvPr/>
        </p:nvSpPr>
        <p:spPr>
          <a:xfrm>
            <a:off x="128905" y="220345"/>
            <a:ext cx="2099310" cy="2014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5000">
                <a:solidFill>
                  <a:srgbClr val="5B758D"/>
                </a:solidFill>
                <a:latin typeface="楷体" panose="02010609060101010101" pitchFamily="34" charset="-122"/>
                <a:ea typeface="楷体" panose="02010609060101010101" pitchFamily="34" charset="-122"/>
              </a:rPr>
              <a:t>问</a:t>
            </a:r>
            <a:endParaRPr lang="zh-CN" altLang="en-US" sz="15000">
              <a:solidFill>
                <a:srgbClr val="5B758D"/>
              </a:solidFill>
              <a:latin typeface="楷体" panose="02010609060101010101" pitchFamily="34" charset="-122"/>
              <a:ea typeface="楷体" panose="02010609060101010101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3993185" y="1280160"/>
            <a:ext cx="4206240" cy="4206240"/>
          </a:xfrm>
          <a:prstGeom prst="ellipse">
            <a:avLst/>
          </a:prstGeom>
          <a:ln w="13970">
            <a:solidFill>
              <a:srgbClr val="E0E7EF"/>
            </a:solidFill>
            <a:prstDash val="solid"/>
          </a:ln>
        </p:spPr>
      </p:sp>
      <p:sp>
        <p:nvSpPr>
          <p:cNvPr id="31" name="Shape 1"/>
          <p:cNvSpPr/>
          <p:nvPr/>
        </p:nvSpPr>
        <p:spPr>
          <a:xfrm>
            <a:off x="3353105" y="640080"/>
            <a:ext cx="5486400" cy="5486400"/>
          </a:xfrm>
          <a:prstGeom prst="ellipse">
            <a:avLst/>
          </a:prstGeom>
          <a:ln w="13970">
            <a:solidFill>
              <a:srgbClr val="E0E7EF"/>
            </a:solidFill>
            <a:prstDash val="solid"/>
          </a:ln>
        </p:spPr>
      </p:sp>
      <p:sp>
        <p:nvSpPr>
          <p:cNvPr id="33" name="Shape 2"/>
          <p:cNvSpPr/>
          <p:nvPr/>
        </p:nvSpPr>
        <p:spPr>
          <a:xfrm>
            <a:off x="2713025" y="0"/>
            <a:ext cx="6766560" cy="6766560"/>
          </a:xfrm>
          <a:prstGeom prst="ellipse">
            <a:avLst/>
          </a:prstGeom>
          <a:ln w="13970">
            <a:solidFill>
              <a:srgbClr val="E0E7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868680"/>
            <a:ext cx="4572000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时代之问 · 自我追问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651760" y="1280160"/>
            <a:ext cx="6858000" cy="6583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三个问题，问自己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651760" y="2066544"/>
            <a:ext cx="777240" cy="41148"/>
          </a:xfrm>
          <a:prstGeom prst="rect">
            <a:avLst/>
          </a:prstGeom>
          <a:solidFill>
            <a:srgbClr val="2C5F8F"/>
          </a:solidFill>
        </p:spPr>
      </p:sp>
      <p:sp>
        <p:nvSpPr>
          <p:cNvPr id="10" name="Shape 8"/>
          <p:cNvSpPr/>
          <p:nvPr/>
        </p:nvSpPr>
        <p:spPr>
          <a:xfrm>
            <a:off x="2453640" y="269748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81656" y="282549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258312" y="2697480"/>
            <a:ext cx="605332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我应该学什么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，才不会被时代淘汰？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2453640" y="3593592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1656" y="3721608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58312" y="3593592"/>
            <a:ext cx="605332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大学四年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，力气该花在哪里？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2717800" y="4489704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45816" y="461772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522472" y="4489704"/>
            <a:ext cx="605332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什么样的本领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，是 AI 替代不了的？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2651760" y="5596128"/>
            <a:ext cx="292608" cy="32004"/>
          </a:xfrm>
          <a:prstGeom prst="rect">
            <a:avLst/>
          </a:prstGeom>
          <a:solidFill>
            <a:srgbClr val="2C5F8F"/>
          </a:solidFill>
        </p:spPr>
      </p:sp>
      <p:sp>
        <p:nvSpPr>
          <p:cNvPr id="20" name="Text 15"/>
          <p:cNvSpPr/>
          <p:nvPr/>
        </p:nvSpPr>
        <p:spPr>
          <a:xfrm>
            <a:off x="3108960" y="5413248"/>
            <a:ext cx="6400800" cy="3840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与其空想，不如去问一个走过这条路的人。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02920" y="6419088"/>
            <a:ext cx="38404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寻匠悟道 · 一次与青年工匠的对话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92840" y="6419088"/>
            <a:ext cx="411480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C8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04</a:t>
            </a:r>
            <a:endParaRPr lang="en-US" sz="1000" dirty="0"/>
          </a:p>
        </p:txBody>
      </p:sp>
      <p:sp>
        <p:nvSpPr>
          <p:cNvPr id="37" name="文本框 36"/>
          <p:cNvSpPr txBox="1"/>
          <p:nvPr/>
        </p:nvSpPr>
        <p:spPr>
          <a:xfrm>
            <a:off x="128905" y="220345"/>
            <a:ext cx="2099310" cy="2014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5000">
                <a:solidFill>
                  <a:srgbClr val="5B758D"/>
                </a:solidFill>
                <a:latin typeface="楷体" panose="02010609060101010101" pitchFamily="34" charset="-122"/>
                <a:ea typeface="楷体" panose="02010609060101010101" pitchFamily="34" charset="-122"/>
              </a:rPr>
              <a:t>问</a:t>
            </a:r>
            <a:endParaRPr lang="zh-CN" altLang="en-US" sz="15000">
              <a:solidFill>
                <a:srgbClr val="5B758D"/>
              </a:solidFill>
              <a:latin typeface="楷体" panose="02010609060101010101" pitchFamily="34" charset="-122"/>
              <a:ea typeface="楷体" panose="02010609060101010101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6065" y="1425575"/>
            <a:ext cx="3549650" cy="354965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61720" y="629920"/>
            <a:ext cx="5140960" cy="514096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1857375" y="-165735"/>
            <a:ext cx="6732270" cy="673227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2011680"/>
            <a:ext cx="2011680" cy="23774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2C5F8F"/>
                </a:solidFill>
                <a:latin typeface="楷体" panose="02010609060101010101" pitchFamily="34" charset="-122"/>
                <a:ea typeface="楷体" panose="02010609060101010101" pitchFamily="34" charset="-122"/>
                <a:cs typeface="楷体" panose="02010609060101010101" pitchFamily="34" charset="-120"/>
              </a:rPr>
              <a:t>匠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3246120" y="868680"/>
            <a:ext cx="3657600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第二章 · 寻匠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46120" y="1280160"/>
            <a:ext cx="8046720" cy="6583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去寻找一位青年工匠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46120" y="2066544"/>
            <a:ext cx="777240" cy="41148"/>
          </a:xfrm>
          <a:prstGeom prst="rect">
            <a:avLst/>
          </a:prstGeom>
          <a:solidFill>
            <a:srgbClr val="2C5F8F"/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787775" y="260604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15791" y="273405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92447" y="2606040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采访对象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青年工匠</a:t>
            </a:r>
            <a:r>
              <a:rPr lang="zh-CN" alt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张祁涛</a:t>
            </a:r>
            <a:endParaRPr lang="zh-CN" altLang="en-US" sz="1650" dirty="0">
              <a:solidFill>
                <a:srgbClr val="20344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721735" y="3501517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9751" y="3629533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26407" y="3501517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采访人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 级</a:t>
            </a:r>
            <a:r>
              <a:rPr lang="zh-CN" alt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新材料</a:t>
            </a:r>
            <a:r>
              <a:rPr lang="en-US" altLang="zh-CN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r>
              <a:rPr lang="zh-CN" alt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小组</a:t>
            </a:r>
            <a:r>
              <a:rPr lang="en-US" altLang="zh-CN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altLang="zh-CN" sz="1650" dirty="0">
              <a:solidFill>
                <a:srgbClr val="20344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403600" y="4398264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31616" y="45262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08272" y="4398264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采访主题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以个人成长，见深圳发展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2321560" y="5294376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449576" y="5422392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3109722" y="5294376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采访成果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电话采访已完成，要点已整理呈现</a:t>
            </a:r>
            <a:endParaRPr lang="en-US" sz="1650" dirty="0"/>
          </a:p>
        </p:txBody>
      </p:sp>
      <p:sp>
        <p:nvSpPr>
          <p:cNvPr id="22" name="Text 16"/>
          <p:cNvSpPr/>
          <p:nvPr/>
        </p:nvSpPr>
        <p:spPr>
          <a:xfrm>
            <a:off x="502920" y="6419088"/>
            <a:ext cx="38404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寻匠悟道 · 一次与青年工匠的对话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92840" y="6419088"/>
            <a:ext cx="411480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C8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0"/>
          <p:cNvSpPr/>
          <p:nvPr/>
        </p:nvSpPr>
        <p:spPr>
          <a:xfrm>
            <a:off x="-266065" y="1425575"/>
            <a:ext cx="3549650" cy="354965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2" name="Shape 1"/>
          <p:cNvSpPr/>
          <p:nvPr/>
        </p:nvSpPr>
        <p:spPr>
          <a:xfrm>
            <a:off x="-1061720" y="629920"/>
            <a:ext cx="5140960" cy="514096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3" name="Shape 2"/>
          <p:cNvSpPr/>
          <p:nvPr/>
        </p:nvSpPr>
        <p:spPr>
          <a:xfrm>
            <a:off x="-1857375" y="-165735"/>
            <a:ext cx="6732270" cy="673227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4" name="Text 3"/>
          <p:cNvSpPr/>
          <p:nvPr/>
        </p:nvSpPr>
        <p:spPr>
          <a:xfrm>
            <a:off x="502920" y="2011680"/>
            <a:ext cx="2011680" cy="23774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2C5F8F"/>
                </a:solidFill>
                <a:latin typeface="楷体" panose="02010609060101010101" pitchFamily="34" charset="-122"/>
                <a:ea typeface="楷体" panose="02010609060101010101" pitchFamily="34" charset="-122"/>
                <a:cs typeface="楷体" panose="02010609060101010101" pitchFamily="34" charset="-120"/>
              </a:rPr>
              <a:t>匠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10744200" y="2011680"/>
            <a:ext cx="2011680" cy="23774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E4EBF2"/>
                </a:solidFill>
                <a:latin typeface="楷体" panose="02010609060101010101" pitchFamily="34" charset="-122"/>
                <a:ea typeface="楷体" panose="02010609060101010101" pitchFamily="34" charset="-122"/>
                <a:cs typeface="楷体" panose="02010609060101010101" pitchFamily="34" charset="-120"/>
              </a:rPr>
              <a:t>道</a:t>
            </a:r>
            <a:endParaRPr lang="en-US" sz="12000" dirty="0"/>
          </a:p>
        </p:txBody>
      </p:sp>
      <p:sp>
        <p:nvSpPr>
          <p:cNvPr id="8" name="Text 6"/>
          <p:cNvSpPr/>
          <p:nvPr/>
        </p:nvSpPr>
        <p:spPr>
          <a:xfrm>
            <a:off x="3246120" y="1280160"/>
            <a:ext cx="8046720" cy="6583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城市与选择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46120" y="2066544"/>
            <a:ext cx="777240" cy="41148"/>
          </a:xfrm>
          <a:prstGeom prst="rect">
            <a:avLst/>
          </a:prstGeom>
          <a:solidFill>
            <a:srgbClr val="2C5F8F"/>
          </a:solidFill>
        </p:spPr>
        <p:txBody>
          <a:bodyPr/>
          <a:p/>
        </p:txBody>
      </p:sp>
      <p:sp>
        <p:nvSpPr>
          <p:cNvPr id="10" name="Shape 8"/>
          <p:cNvSpPr/>
          <p:nvPr>
            <p:custDataLst>
              <p:tags r:id="rId2"/>
            </p:custDataLst>
          </p:nvPr>
        </p:nvSpPr>
        <p:spPr>
          <a:xfrm>
            <a:off x="2985135" y="269748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2C5F8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3030855" y="2816352"/>
            <a:ext cx="457200" cy="310896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Q1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4"/>
            </p:custDataLst>
          </p:nvPr>
        </p:nvSpPr>
        <p:spPr>
          <a:xfrm>
            <a:off x="3789807" y="2624328"/>
            <a:ext cx="7242048" cy="3840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初到深圳的最深印象？与现在相比，变化最大的是哪几点？</a:t>
            </a:r>
            <a:endParaRPr lang="en-US" sz="1550" dirty="0"/>
          </a:p>
        </p:txBody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3789807" y="3026664"/>
            <a:ext cx="7242048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学长回答 — 变化并不太大；深圳好比三十年前的上海，想看近五十年的中国就来深圳</a:t>
            </a:r>
            <a:endParaRPr lang="en-US" sz="1150" dirty="0"/>
          </a:p>
        </p:txBody>
      </p:sp>
      <p:sp>
        <p:nvSpPr>
          <p:cNvPr id="14" name="Shape 12"/>
          <p:cNvSpPr/>
          <p:nvPr>
            <p:custDataLst>
              <p:tags r:id="rId6"/>
            </p:custDataLst>
          </p:nvPr>
        </p:nvSpPr>
        <p:spPr>
          <a:xfrm>
            <a:off x="2441575" y="420624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2C5F8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2487295" y="4325112"/>
            <a:ext cx="457200" cy="310896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Q2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3246247" y="4133088"/>
            <a:ext cx="7242048" cy="3840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大学四年做过哪些关键选择？是否受深圳产业与氛围影响？</a:t>
            </a:r>
            <a:endParaRPr lang="en-US" sz="1550" dirty="0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3246247" y="4535424"/>
            <a:ext cx="7242048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学长回答 — 先选材料赛道再做自我补全；实习围绕锂电产业，挑战杯、互联网+均获成绩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46120" y="5806440"/>
            <a:ext cx="8046720" cy="29260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采访已完成 —— 以下为学长的实际回答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6419088"/>
            <a:ext cx="38404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寻匠悟道 · 一次与青年工匠的对话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92840" y="6419088"/>
            <a:ext cx="411480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C8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-266065" y="1425575"/>
            <a:ext cx="3549650" cy="354965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5" name="Shape 1"/>
          <p:cNvSpPr/>
          <p:nvPr/>
        </p:nvSpPr>
        <p:spPr>
          <a:xfrm>
            <a:off x="-1061720" y="629920"/>
            <a:ext cx="5140960" cy="514096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6" name="Shape 2"/>
          <p:cNvSpPr/>
          <p:nvPr/>
        </p:nvSpPr>
        <p:spPr>
          <a:xfrm>
            <a:off x="-1857375" y="-165735"/>
            <a:ext cx="6732270" cy="673227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7" name="Text 3"/>
          <p:cNvSpPr/>
          <p:nvPr/>
        </p:nvSpPr>
        <p:spPr>
          <a:xfrm>
            <a:off x="502920" y="2011680"/>
            <a:ext cx="2011680" cy="23774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5B758D"/>
                </a:solidFill>
                <a:latin typeface="楷体" panose="02010609060101010101" pitchFamily="34" charset="-122"/>
                <a:ea typeface="楷体" panose="02010609060101010101" pitchFamily="34" charset="-122"/>
                <a:cs typeface="楷体" panose="02010609060101010101" pitchFamily="34" charset="-120"/>
              </a:rPr>
              <a:t>匠</a:t>
            </a:r>
            <a:endParaRPr lang="en-US" sz="12000" dirty="0">
              <a:solidFill>
                <a:srgbClr val="5B758D"/>
              </a:solidFill>
              <a:latin typeface="楷体" panose="02010609060101010101" pitchFamily="34" charset="-122"/>
              <a:ea typeface="楷体" panose="02010609060101010101" pitchFamily="34" charset="-122"/>
              <a:cs typeface="楷体" panose="02010609060101010101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46120" y="1280160"/>
            <a:ext cx="8046720" cy="6583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抉择、弯路与建议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246120" y="2066544"/>
            <a:ext cx="777240" cy="41148"/>
          </a:xfrm>
          <a:prstGeom prst="rect">
            <a:avLst/>
          </a:prstGeom>
          <a:solidFill>
            <a:srgbClr val="2C5F8F"/>
          </a:solidFill>
        </p:spPr>
        <p:txBody>
          <a:bodyPr/>
          <a:p/>
        </p:txBody>
      </p:sp>
      <p:sp>
        <p:nvSpPr>
          <p:cNvPr id="10" name="Shape 8"/>
          <p:cNvSpPr/>
          <p:nvPr>
            <p:custDataLst>
              <p:tags r:id="rId2"/>
            </p:custDataLst>
          </p:nvPr>
        </p:nvSpPr>
        <p:spPr>
          <a:xfrm>
            <a:off x="3745865" y="2450592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2C5F8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>
            <p:custDataLst>
              <p:tags r:id="rId3"/>
            </p:custDataLst>
          </p:nvPr>
        </p:nvSpPr>
        <p:spPr>
          <a:xfrm>
            <a:off x="3791585" y="2569464"/>
            <a:ext cx="457200" cy="310896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>
            <p:custDataLst>
              <p:tags r:id="rId4"/>
            </p:custDataLst>
          </p:nvPr>
        </p:nvSpPr>
        <p:spPr>
          <a:xfrm>
            <a:off x="4550537" y="2377440"/>
            <a:ext cx="7242048" cy="3840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550" dirty="0"/>
          </a:p>
        </p:txBody>
      </p:sp>
      <p:sp>
        <p:nvSpPr>
          <p:cNvPr id="13" name="Text 11"/>
          <p:cNvSpPr/>
          <p:nvPr>
            <p:custDataLst>
              <p:tags r:id="rId5"/>
            </p:custDataLst>
          </p:nvPr>
        </p:nvSpPr>
        <p:spPr>
          <a:xfrm>
            <a:off x="4550537" y="2779776"/>
            <a:ext cx="7242048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endParaRPr lang="en-US" sz="1150" dirty="0"/>
          </a:p>
        </p:txBody>
      </p:sp>
      <p:sp>
        <p:nvSpPr>
          <p:cNvPr id="14" name="Shape 12"/>
          <p:cNvSpPr/>
          <p:nvPr>
            <p:custDataLst>
              <p:tags r:id="rId6"/>
            </p:custDataLst>
          </p:nvPr>
        </p:nvSpPr>
        <p:spPr>
          <a:xfrm>
            <a:off x="3657600" y="3712464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2C5F8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>
            <p:custDataLst>
              <p:tags r:id="rId7"/>
            </p:custDataLst>
          </p:nvPr>
        </p:nvSpPr>
        <p:spPr>
          <a:xfrm>
            <a:off x="3703320" y="3831336"/>
            <a:ext cx="457200" cy="310896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Q4</a:t>
            </a:r>
            <a:endParaRPr lang="en-US" sz="1400" dirty="0"/>
          </a:p>
        </p:txBody>
      </p:sp>
      <p:sp>
        <p:nvSpPr>
          <p:cNvPr id="16" name="Text 14"/>
          <p:cNvSpPr/>
          <p:nvPr>
            <p:custDataLst>
              <p:tags r:id="rId8"/>
            </p:custDataLst>
          </p:nvPr>
        </p:nvSpPr>
        <p:spPr>
          <a:xfrm>
            <a:off x="4462272" y="3639312"/>
            <a:ext cx="7242048" cy="3840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适应城市、规划发展的路上，走过哪些弯路与收获？</a:t>
            </a:r>
            <a:endParaRPr lang="en-US" sz="1550" dirty="0"/>
          </a:p>
        </p:txBody>
      </p:sp>
      <p:sp>
        <p:nvSpPr>
          <p:cNvPr id="17" name="Text 15"/>
          <p:cNvSpPr/>
          <p:nvPr>
            <p:custDataLst>
              <p:tags r:id="rId9"/>
            </p:custDataLst>
          </p:nvPr>
        </p:nvSpPr>
        <p:spPr>
          <a:xfrm>
            <a:off x="4462272" y="4041648"/>
            <a:ext cx="7242048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学长回答 — 没走弯路，而是另辟蹊径：扎根大湾区，做科研者与市场从业者之间的桥梁</a:t>
            </a:r>
            <a:endParaRPr lang="en-US" sz="1150" dirty="0"/>
          </a:p>
        </p:txBody>
      </p:sp>
      <p:sp>
        <p:nvSpPr>
          <p:cNvPr id="18" name="Shape 16"/>
          <p:cNvSpPr/>
          <p:nvPr>
            <p:custDataLst>
              <p:tags r:id="rId10"/>
            </p:custDataLst>
          </p:nvPr>
        </p:nvSpPr>
        <p:spPr>
          <a:xfrm>
            <a:off x="2781935" y="4974336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2C5F8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>
            <p:custDataLst>
              <p:tags r:id="rId11"/>
            </p:custDataLst>
          </p:nvPr>
        </p:nvSpPr>
        <p:spPr>
          <a:xfrm>
            <a:off x="2827655" y="5093208"/>
            <a:ext cx="457200" cy="310896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5F8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Q5</a:t>
            </a:r>
            <a:endParaRPr lang="en-US" sz="1400" dirty="0"/>
          </a:p>
        </p:txBody>
      </p:sp>
      <p:sp>
        <p:nvSpPr>
          <p:cNvPr id="20" name="Text 18"/>
          <p:cNvSpPr/>
          <p:nvPr>
            <p:custDataLst>
              <p:tags r:id="rId12"/>
            </p:custDataLst>
          </p:nvPr>
        </p:nvSpPr>
        <p:spPr>
          <a:xfrm>
            <a:off x="3586607" y="4901184"/>
            <a:ext cx="7242048" cy="3840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如果重回大一、面对 AI 浪潮，会给自己哪三条建议？</a:t>
            </a:r>
            <a:endParaRPr lang="en-US" sz="1550" dirty="0"/>
          </a:p>
        </p:txBody>
      </p:sp>
      <p:sp>
        <p:nvSpPr>
          <p:cNvPr id="21" name="Text 19"/>
          <p:cNvSpPr/>
          <p:nvPr>
            <p:custDataLst>
              <p:tags r:id="rId13"/>
            </p:custDataLst>
          </p:nvPr>
        </p:nvSpPr>
        <p:spPr>
          <a:xfrm>
            <a:off x="3586607" y="5303520"/>
            <a:ext cx="7242048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学长回答 — 学习：多看文献、追前沿；心态：稳住瓶颈期；规划：不必太远，学材料不一定干材料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38404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寻匠悟道 · 一次与青年工匠的对话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92840" y="6419088"/>
            <a:ext cx="411480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C8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07</a:t>
            </a:r>
            <a:endParaRPr lang="en-US" sz="1000" dirty="0"/>
          </a:p>
        </p:txBody>
      </p:sp>
      <p:sp>
        <p:nvSpPr>
          <p:cNvPr id="2" name="文本框 1"/>
          <p:cNvSpPr txBox="1"/>
          <p:nvPr>
            <p:custDataLst>
              <p:tags r:id="rId14"/>
            </p:custDataLst>
          </p:nvPr>
        </p:nvSpPr>
        <p:spPr>
          <a:xfrm>
            <a:off x="4462145" y="2447290"/>
            <a:ext cx="6096000" cy="329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55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毕业时如何做就业或升学决定？行业趋势给了哪些参考</a:t>
            </a:r>
            <a:endParaRPr lang="en-US" altLang="en-US" sz="1550" b="1" dirty="0">
              <a:solidFill>
                <a:srgbClr val="20344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5"/>
            </p:custDataLst>
          </p:nvPr>
        </p:nvSpPr>
        <p:spPr>
          <a:xfrm>
            <a:off x="4550410" y="2776220"/>
            <a:ext cx="6096000" cy="267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buNone/>
            </a:pPr>
            <a:r>
              <a:rPr lang="en-US" sz="115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学长回答 — 想走研发与技术路线，就坚定升学；参考龙头企业招聘的学历与能力标准</a:t>
            </a:r>
            <a:endParaRPr lang="en-US" altLang="en-US" sz="1150" dirty="0">
              <a:solidFill>
                <a:srgbClr val="7C8B9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0"/>
          <p:cNvSpPr/>
          <p:nvPr/>
        </p:nvSpPr>
        <p:spPr>
          <a:xfrm>
            <a:off x="-266065" y="1425575"/>
            <a:ext cx="3549650" cy="354965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9" name="Shape 1"/>
          <p:cNvSpPr/>
          <p:nvPr/>
        </p:nvSpPr>
        <p:spPr>
          <a:xfrm rot="3600000">
            <a:off x="-1061720" y="629920"/>
            <a:ext cx="5140960" cy="514096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30" name="Shape 2"/>
          <p:cNvSpPr/>
          <p:nvPr/>
        </p:nvSpPr>
        <p:spPr>
          <a:xfrm>
            <a:off x="-1857375" y="-165735"/>
            <a:ext cx="6732270" cy="673227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903980" y="868680"/>
            <a:ext cx="3657600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第三章 · 悟道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03980" y="1280160"/>
            <a:ext cx="8046720" cy="6583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对自我思考的初步回答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3903980" y="2066544"/>
            <a:ext cx="777240" cy="41148"/>
          </a:xfrm>
          <a:prstGeom prst="rect">
            <a:avLst/>
          </a:prstGeom>
          <a:solidFill>
            <a:srgbClr val="2C5F8F"/>
          </a:solidFill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768090" y="274320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6106" y="2871216"/>
            <a:ext cx="292608" cy="292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762" y="2743200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关于方向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个人规划，锚定大湾区、与时代同频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3648075" y="365760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76091" y="378561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52747" y="3657600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关于试错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没有弯路，只有「另辟蹊径」</a:t>
            </a:r>
            <a:endParaRPr lang="en-US" sz="1650" dirty="0"/>
          </a:p>
        </p:txBody>
      </p:sp>
      <p:sp>
        <p:nvSpPr>
          <p:cNvPr id="16" name="Shape 12"/>
          <p:cNvSpPr/>
          <p:nvPr/>
        </p:nvSpPr>
        <p:spPr>
          <a:xfrm>
            <a:off x="3159125" y="457200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87141" y="470001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963797" y="4572000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关于 AI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的底层是材料，创新从材料出发</a:t>
            </a:r>
            <a:endParaRPr lang="en-US" sz="1650" dirty="0"/>
          </a:p>
        </p:txBody>
      </p:sp>
      <p:sp>
        <p:nvSpPr>
          <p:cNvPr id="19" name="Shape 14"/>
          <p:cNvSpPr/>
          <p:nvPr/>
        </p:nvSpPr>
        <p:spPr>
          <a:xfrm>
            <a:off x="868680" y="5779008"/>
            <a:ext cx="292608" cy="32004"/>
          </a:xfrm>
          <a:prstGeom prst="rect">
            <a:avLst/>
          </a:prstGeom>
          <a:solidFill>
            <a:srgbClr val="D9CFBB"/>
          </a:solidFill>
        </p:spPr>
        <p:txBody>
          <a:bodyPr/>
          <a:p/>
        </p:txBody>
      </p:sp>
      <p:sp>
        <p:nvSpPr>
          <p:cNvPr id="20" name="Text 15"/>
          <p:cNvSpPr/>
          <p:nvPr/>
        </p:nvSpPr>
        <p:spPr>
          <a:xfrm>
            <a:off x="1325880" y="5614416"/>
            <a:ext cx="7589520" cy="347472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以下结论已结合采访内容整理——以个人成长，见深圳发展。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502920" y="6419088"/>
            <a:ext cx="38404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寻匠悟道 · 一次与青年工匠的对话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92840" y="6419088"/>
            <a:ext cx="411480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C8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09</a:t>
            </a:r>
            <a:endParaRPr lang="en-US" sz="1000" dirty="0"/>
          </a:p>
        </p:txBody>
      </p:sp>
      <p:sp>
        <p:nvSpPr>
          <p:cNvPr id="34" name="Text 3"/>
          <p:cNvSpPr/>
          <p:nvPr/>
        </p:nvSpPr>
        <p:spPr>
          <a:xfrm>
            <a:off x="502920" y="2011680"/>
            <a:ext cx="2011680" cy="23774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zh-CN" altLang="en-US" sz="12000" dirty="0"/>
          </a:p>
        </p:txBody>
      </p:sp>
      <p:sp>
        <p:nvSpPr>
          <p:cNvPr id="35" name="Text 3"/>
          <p:cNvSpPr/>
          <p:nvPr/>
        </p:nvSpPr>
        <p:spPr>
          <a:xfrm>
            <a:off x="629920" y="2138680"/>
            <a:ext cx="2011680" cy="23774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2000" dirty="0">
                <a:solidFill>
                  <a:srgbClr val="5B758D"/>
                </a:solidFill>
                <a:latin typeface="楷体" panose="02010609060101010101" pitchFamily="34" charset="-122"/>
                <a:ea typeface="楷体" panose="02010609060101010101" pitchFamily="34" charset="-122"/>
              </a:rPr>
              <a:t>道</a:t>
            </a:r>
            <a:endParaRPr lang="zh-CN" altLang="en-US" sz="12000" dirty="0">
              <a:solidFill>
                <a:srgbClr val="5B758D"/>
              </a:solidFill>
              <a:latin typeface="楷体" panose="02010609060101010101" pitchFamily="34" charset="-122"/>
              <a:ea typeface="楷体" panose="02010609060101010101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-1199515" y="1493520"/>
            <a:ext cx="3549650" cy="354965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58" name="Shape 1"/>
          <p:cNvSpPr/>
          <p:nvPr/>
        </p:nvSpPr>
        <p:spPr>
          <a:xfrm>
            <a:off x="-1061720" y="629920"/>
            <a:ext cx="5140960" cy="514096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59" name="Shape 2"/>
          <p:cNvSpPr/>
          <p:nvPr/>
        </p:nvSpPr>
        <p:spPr>
          <a:xfrm>
            <a:off x="-1857375" y="-165735"/>
            <a:ext cx="6732270" cy="673227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2" name="Shape 16"/>
          <p:cNvSpPr/>
          <p:nvPr/>
        </p:nvSpPr>
        <p:spPr>
          <a:xfrm>
            <a:off x="868680" y="6144768"/>
            <a:ext cx="292608" cy="32004"/>
          </a:xfrm>
          <a:prstGeom prst="rect">
            <a:avLst/>
          </a:prstGeom>
          <a:solidFill>
            <a:srgbClr val="2C5F8F"/>
          </a:solidFill>
        </p:spPr>
        <p:txBody>
          <a:bodyPr/>
          <a:p/>
        </p:txBody>
      </p:sp>
      <p:sp>
        <p:nvSpPr>
          <p:cNvPr id="23" name="Text 17"/>
          <p:cNvSpPr/>
          <p:nvPr/>
        </p:nvSpPr>
        <p:spPr>
          <a:xfrm>
            <a:off x="1240790" y="5989320"/>
            <a:ext cx="7589520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从今天开始，从手边的一件小事开始。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02920" y="6419088"/>
            <a:ext cx="38404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寻匠悟道 · 一次与青年工匠的对话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92840" y="6419088"/>
            <a:ext cx="411480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C8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10</a:t>
            </a:r>
            <a:endParaRPr lang="en-US" sz="1000" dirty="0"/>
          </a:p>
        </p:txBody>
      </p:sp>
      <p:sp>
        <p:nvSpPr>
          <p:cNvPr id="41" name="Shape 16"/>
          <p:cNvSpPr/>
          <p:nvPr/>
        </p:nvSpPr>
        <p:spPr>
          <a:xfrm>
            <a:off x="868680" y="6144768"/>
            <a:ext cx="292608" cy="32004"/>
          </a:xfrm>
          <a:prstGeom prst="rect">
            <a:avLst/>
          </a:prstGeom>
          <a:solidFill>
            <a:srgbClr val="2C5F8F"/>
          </a:solidFill>
        </p:spPr>
        <p:txBody>
          <a:bodyPr/>
          <a:p/>
        </p:txBody>
      </p:sp>
      <p:sp>
        <p:nvSpPr>
          <p:cNvPr id="42" name="Text 11"/>
          <p:cNvSpPr/>
          <p:nvPr/>
        </p:nvSpPr>
        <p:spPr>
          <a:xfrm>
            <a:off x="5350002" y="3474720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心态上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研究不出来、坚持不下去时，稳住心态再出发</a:t>
            </a:r>
            <a:endParaRPr lang="en-US" sz="1650" dirty="0"/>
          </a:p>
        </p:txBody>
      </p:sp>
      <p:sp>
        <p:nvSpPr>
          <p:cNvPr id="43" name="Text 13"/>
          <p:cNvSpPr/>
          <p:nvPr/>
        </p:nvSpPr>
        <p:spPr>
          <a:xfrm>
            <a:off x="4213987" y="4233545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规划上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规划不必太远，学材料不一定干材料</a:t>
            </a:r>
            <a:endParaRPr lang="en-US" sz="1650" dirty="0"/>
          </a:p>
        </p:txBody>
      </p:sp>
      <p:sp>
        <p:nvSpPr>
          <p:cNvPr id="44" name="Text 15"/>
          <p:cNvSpPr/>
          <p:nvPr/>
        </p:nvSpPr>
        <p:spPr>
          <a:xfrm>
            <a:off x="4462272" y="5212080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能力上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看懂 AI 背后的材料需求，锤炼跨界创新的眼光</a:t>
            </a:r>
            <a:endParaRPr lang="en-US" sz="1650" dirty="0"/>
          </a:p>
        </p:txBody>
      </p:sp>
      <p:sp>
        <p:nvSpPr>
          <p:cNvPr id="45" name="Text 5"/>
          <p:cNvSpPr/>
          <p:nvPr/>
        </p:nvSpPr>
        <p:spPr>
          <a:xfrm>
            <a:off x="4085590" y="868680"/>
            <a:ext cx="3657600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悟道 · 践行</a:t>
            </a:r>
            <a:endParaRPr lang="en-US" sz="1300" dirty="0"/>
          </a:p>
        </p:txBody>
      </p:sp>
      <p:sp>
        <p:nvSpPr>
          <p:cNvPr id="46" name="Text 6"/>
          <p:cNvSpPr/>
          <p:nvPr/>
        </p:nvSpPr>
        <p:spPr>
          <a:xfrm>
            <a:off x="4085590" y="1280160"/>
            <a:ext cx="8046720" cy="65836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把答案，变成我的行动</a:t>
            </a:r>
            <a:endParaRPr lang="en-US" sz="3000" dirty="0"/>
          </a:p>
        </p:txBody>
      </p:sp>
      <p:sp>
        <p:nvSpPr>
          <p:cNvPr id="47" name="Shape 7"/>
          <p:cNvSpPr/>
          <p:nvPr/>
        </p:nvSpPr>
        <p:spPr>
          <a:xfrm>
            <a:off x="4085590" y="2066544"/>
            <a:ext cx="777240" cy="41148"/>
          </a:xfrm>
          <a:prstGeom prst="rect">
            <a:avLst/>
          </a:prstGeom>
          <a:solidFill>
            <a:srgbClr val="2C5F8F"/>
          </a:solidFill>
        </p:spPr>
        <p:txBody>
          <a:bodyPr/>
          <a:p/>
        </p:txBody>
      </p:sp>
      <p:sp>
        <p:nvSpPr>
          <p:cNvPr id="48" name="Shape 8"/>
          <p:cNvSpPr/>
          <p:nvPr/>
        </p:nvSpPr>
        <p:spPr>
          <a:xfrm>
            <a:off x="3836035" y="260604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49" name="Image 0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4051" y="2734056"/>
            <a:ext cx="292608" cy="292608"/>
          </a:xfrm>
          <a:prstGeom prst="rect">
            <a:avLst/>
          </a:prstGeom>
        </p:spPr>
      </p:pic>
      <p:sp>
        <p:nvSpPr>
          <p:cNvPr id="50" name="Text 9"/>
          <p:cNvSpPr/>
          <p:nvPr/>
        </p:nvSpPr>
        <p:spPr>
          <a:xfrm>
            <a:off x="4640707" y="2606040"/>
            <a:ext cx="7242048" cy="5486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2C5F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学习上  </a:t>
            </a:r>
            <a:r>
              <a:rPr lang="en-US" sz="1650" dirty="0">
                <a:solidFill>
                  <a:srgbClr val="20344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多看文献、多刷公众号，从前沿差距里反思自己</a:t>
            </a:r>
            <a:endParaRPr lang="en-US" sz="1650" dirty="0"/>
          </a:p>
        </p:txBody>
      </p:sp>
      <p:sp>
        <p:nvSpPr>
          <p:cNvPr id="51" name="Shape 10"/>
          <p:cNvSpPr/>
          <p:nvPr/>
        </p:nvSpPr>
        <p:spPr>
          <a:xfrm>
            <a:off x="4545330" y="347472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73346" y="3602736"/>
            <a:ext cx="292608" cy="292608"/>
          </a:xfrm>
          <a:prstGeom prst="rect">
            <a:avLst/>
          </a:prstGeom>
        </p:spPr>
      </p:pic>
      <p:sp>
        <p:nvSpPr>
          <p:cNvPr id="53" name="Shape 12"/>
          <p:cNvSpPr/>
          <p:nvPr/>
        </p:nvSpPr>
        <p:spPr>
          <a:xfrm>
            <a:off x="3409315" y="4233545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54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537331" y="4361561"/>
            <a:ext cx="292608" cy="292608"/>
          </a:xfrm>
          <a:prstGeom prst="rect">
            <a:avLst/>
          </a:prstGeom>
        </p:spPr>
      </p:pic>
      <p:sp>
        <p:nvSpPr>
          <p:cNvPr id="55" name="Shape 14"/>
          <p:cNvSpPr/>
          <p:nvPr/>
        </p:nvSpPr>
        <p:spPr>
          <a:xfrm>
            <a:off x="3657600" y="521208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  <a:prstDash val="solid"/>
          </a:ln>
        </p:spPr>
        <p:txBody>
          <a:bodyPr/>
          <a:p/>
        </p:txBody>
      </p:sp>
      <p:pic>
        <p:nvPicPr>
          <p:cNvPr id="5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85616" y="5340096"/>
            <a:ext cx="292608" cy="292608"/>
          </a:xfrm>
          <a:prstGeom prst="rect">
            <a:avLst/>
          </a:prstGeom>
        </p:spPr>
      </p:pic>
      <p:sp>
        <p:nvSpPr>
          <p:cNvPr id="61" name="Text 3"/>
          <p:cNvSpPr/>
          <p:nvPr/>
        </p:nvSpPr>
        <p:spPr>
          <a:xfrm>
            <a:off x="629920" y="2138680"/>
            <a:ext cx="2011680" cy="23774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zh-CN" altLang="en-US" sz="12000" dirty="0">
                <a:solidFill>
                  <a:srgbClr val="5B758D"/>
                </a:solidFill>
                <a:latin typeface="楷体" panose="02010609060101010101" pitchFamily="34" charset="-122"/>
                <a:ea typeface="楷体" panose="02010609060101010101" pitchFamily="34" charset="-122"/>
              </a:rPr>
              <a:t>道</a:t>
            </a:r>
            <a:endParaRPr lang="zh-CN" altLang="en-US" sz="12000" dirty="0">
              <a:solidFill>
                <a:srgbClr val="5B758D"/>
              </a:solidFill>
              <a:latin typeface="楷体" panose="02010609060101010101" pitchFamily="34" charset="-122"/>
              <a:ea typeface="楷体" panose="02010609060101010101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4633265" y="1737360"/>
            <a:ext cx="2926080" cy="292608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6" name="Shape 1"/>
          <p:cNvSpPr/>
          <p:nvPr/>
        </p:nvSpPr>
        <p:spPr>
          <a:xfrm>
            <a:off x="3810305" y="914400"/>
            <a:ext cx="4572000" cy="457200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17" name="Shape 2"/>
          <p:cNvSpPr/>
          <p:nvPr/>
        </p:nvSpPr>
        <p:spPr>
          <a:xfrm>
            <a:off x="2987345" y="91440"/>
            <a:ext cx="6217920" cy="621792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181905" y="566928"/>
            <a:ext cx="1828800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2400" b="1" kern="0" spc="3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 语</a:t>
            </a:r>
            <a:endParaRPr lang="en-US" sz="2400" b="1" kern="0" spc="3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53105" y="1051560"/>
            <a:ext cx="5486400" cy="3840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寻匠，是寻找一种认真的姿态</a:t>
            </a:r>
            <a:endParaRPr lang="en-US" sz="15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53105" y="1481328"/>
            <a:ext cx="5486400" cy="38404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C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悟道，是走好自己的那条路</a:t>
            </a:r>
            <a:endParaRPr lang="en-US" sz="1500" dirty="0">
              <a:solidFill>
                <a:srgbClr val="FFC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063240" y="2240280"/>
            <a:ext cx="2286000" cy="2468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500" dirty="0">
                <a:solidFill>
                  <a:schemeClr val="accent1">
                    <a:lumMod val="75000"/>
                  </a:schemeClr>
                </a:solidFill>
                <a:latin typeface="楷体" panose="02010609060101010101" pitchFamily="34" charset="-122"/>
                <a:ea typeface="楷体" panose="02010609060101010101" pitchFamily="34" charset="-122"/>
                <a:cs typeface="楷体" panose="02010609060101010101" pitchFamily="34" charset="-120"/>
              </a:rPr>
              <a:t>匠</a:t>
            </a:r>
            <a:endParaRPr lang="en-US" sz="14500" dirty="0">
              <a:solidFill>
                <a:schemeClr val="accent1">
                  <a:lumMod val="75000"/>
                </a:schemeClr>
              </a:solidFill>
              <a:latin typeface="楷体" panose="02010609060101010101" pitchFamily="34" charset="-122"/>
              <a:ea typeface="楷体" panose="02010609060101010101" pitchFamily="34" charset="-122"/>
              <a:cs typeface="楷体" panose="02010609060101010101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39712" y="2240280"/>
            <a:ext cx="2286000" cy="246888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500" dirty="0">
                <a:solidFill>
                  <a:schemeClr val="bg2">
                    <a:lumMod val="25000"/>
                  </a:schemeClr>
                </a:solidFill>
                <a:latin typeface="楷体" panose="02010609060101010101" pitchFamily="34" charset="-122"/>
                <a:ea typeface="楷体" panose="02010609060101010101" pitchFamily="34" charset="-122"/>
                <a:cs typeface="楷体" panose="02010609060101010101" pitchFamily="34" charset="-120"/>
              </a:rPr>
              <a:t>道</a:t>
            </a:r>
            <a:endParaRPr lang="en-US" sz="14500" dirty="0">
              <a:solidFill>
                <a:schemeClr val="bg2">
                  <a:lumMod val="25000"/>
                </a:schemeClr>
              </a:solidFill>
              <a:latin typeface="楷体" panose="02010609060101010101" pitchFamily="34" charset="-122"/>
              <a:ea typeface="楷体" panose="02010609060101010101" pitchFamily="34" charset="-122"/>
              <a:cs typeface="楷体" panose="02010609060101010101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95905" y="5029200"/>
            <a:ext cx="6400800" cy="566928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267505" y="5806440"/>
            <a:ext cx="3657600" cy="32918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" kern="0" spc="3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谢谢聆听 · 愿我们都能寻匠悟道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2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4" name="Shape 0"/>
          <p:cNvSpPr/>
          <p:nvPr/>
        </p:nvSpPr>
        <p:spPr>
          <a:xfrm>
            <a:off x="-266065" y="1425575"/>
            <a:ext cx="3549650" cy="354965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5" name="Shape 1"/>
          <p:cNvSpPr/>
          <p:nvPr/>
        </p:nvSpPr>
        <p:spPr>
          <a:xfrm>
            <a:off x="-1061720" y="629920"/>
            <a:ext cx="5140960" cy="514096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6" name="Shape 2"/>
          <p:cNvSpPr/>
          <p:nvPr/>
        </p:nvSpPr>
        <p:spPr>
          <a:xfrm>
            <a:off x="-1857375" y="-165735"/>
            <a:ext cx="6732270" cy="6732270"/>
          </a:xfrm>
          <a:prstGeom prst="ellipse">
            <a:avLst/>
          </a:prstGeom>
          <a:ln w="13970">
            <a:solidFill>
              <a:srgbClr val="D9E2EC"/>
            </a:solidFill>
            <a:prstDash val="solid"/>
          </a:ln>
        </p:spPr>
        <p:txBody>
          <a:bodyPr/>
          <a:p/>
        </p:txBody>
      </p:sp>
      <p:sp>
        <p:nvSpPr>
          <p:cNvPr id="27" name="Text 3"/>
          <p:cNvSpPr/>
          <p:nvPr/>
        </p:nvSpPr>
        <p:spPr>
          <a:xfrm>
            <a:off x="502920" y="2011680"/>
            <a:ext cx="2011680" cy="237744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5B758D"/>
                </a:solidFill>
                <a:latin typeface="楷体" panose="02010609060101010101" pitchFamily="34" charset="-122"/>
                <a:ea typeface="楷体" panose="02010609060101010101" pitchFamily="34" charset="-122"/>
                <a:cs typeface="楷体" panose="02010609060101010101" pitchFamily="34" charset="-120"/>
              </a:rPr>
              <a:t>匠</a:t>
            </a:r>
            <a:endParaRPr lang="en-US" sz="12000" dirty="0">
              <a:solidFill>
                <a:srgbClr val="5B758D"/>
              </a:solidFill>
              <a:latin typeface="楷体" panose="02010609060101010101" pitchFamily="34" charset="-122"/>
              <a:ea typeface="楷体" panose="02010609060101010101" pitchFamily="34" charset="-122"/>
              <a:cs typeface="楷体" panose="02010609060101010101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02920" y="6419088"/>
            <a:ext cx="3840480" cy="274320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C8B9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寻匠悟道 · 一次与青年工匠的对话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92840" y="6419088"/>
            <a:ext cx="411480" cy="274320"/>
          </a:xfrm>
          <a:prstGeom prst="rect">
            <a:avLst/>
          </a:prstGeom>
          <a:noFill/>
        </p:spPr>
        <p:txBody>
          <a:bodyPr wrap="non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7C8B9A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08</a:t>
            </a:r>
            <a:endParaRPr lang="en-US" sz="1000" dirty="0"/>
          </a:p>
        </p:txBody>
      </p:sp>
      <p:sp>
        <p:nvSpPr>
          <p:cNvPr id="28" name="TextBox 27"/>
          <p:cNvSpPr txBox="1"/>
          <p:nvPr/>
        </p:nvSpPr>
        <p:spPr>
          <a:xfrm>
            <a:off x="3246120" y="868680"/>
            <a:ext cx="4572000" cy="3291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300" b="1" spc="300">
                <a:solidFill>
                  <a:srgbClr val="2C5F8F"/>
                </a:solidFill>
                <a:latin typeface="Microsoft YaHei"/>
                <a:ea typeface="Microsoft YaHei"/>
              </a:rPr>
              <a:t>采访撷英 · 学长的话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1280160"/>
            <a:ext cx="8046720" cy="6583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000" b="1">
                <a:solidFill>
                  <a:srgbClr val="20344B"/>
                </a:solidFill>
                <a:latin typeface="Microsoft YaHei"/>
                <a:ea typeface="Microsoft YaHei"/>
              </a:rPr>
              <a:t>听听走过的人怎么说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066543"/>
            <a:ext cx="777240" cy="41148"/>
          </a:xfrm>
          <a:prstGeom prst="rect">
            <a:avLst/>
          </a:prstGeom>
          <a:solidFill>
            <a:srgbClr val="2C5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246120" y="251460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C5F8F"/>
                </a:solidFill>
                <a:latin typeface="Microsoft YaHei"/>
                <a:ea typeface="Microsoft YaHei"/>
              </a:rPr>
              <a:t>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50791" y="2468880"/>
            <a:ext cx="72237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20344B"/>
                </a:solidFill>
                <a:latin typeface="Microsoft YaHei"/>
                <a:ea typeface="Microsoft YaHei"/>
              </a:rPr>
              <a:t>「看近五十年的中国，来深圳。」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50791" y="2852928"/>
            <a:ext cx="72237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7C8B9A"/>
                </a:solidFill>
                <a:latin typeface="Microsoft YaHei"/>
                <a:ea typeface="Microsoft YaHei"/>
              </a:rPr>
              <a:t>—— 千年中国看西安，五百年中国看北京，百年中国看上海，近五十年看深圳</a:t>
            </a:r>
          </a:p>
        </p:txBody>
      </p:sp>
      <p:sp>
        <p:nvSpPr>
          <p:cNvPr id="34" name="Oval 33"/>
          <p:cNvSpPr/>
          <p:nvPr/>
        </p:nvSpPr>
        <p:spPr>
          <a:xfrm>
            <a:off x="3246120" y="370332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C5F8F"/>
                </a:solidFill>
                <a:latin typeface="Microsoft YaHei"/>
                <a:ea typeface="Microsoft YaHei"/>
              </a:rPr>
              <a:t>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50791" y="3657600"/>
            <a:ext cx="72237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20344B"/>
                </a:solidFill>
                <a:latin typeface="Microsoft YaHei"/>
                <a:ea typeface="Microsoft YaHei"/>
              </a:rPr>
              <a:t>「不是走弯路，是另辟蹊径。」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50791" y="4041648"/>
            <a:ext cx="72237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7C8B9A"/>
                </a:solidFill>
                <a:latin typeface="Microsoft YaHei"/>
                <a:ea typeface="Microsoft YaHei"/>
              </a:rPr>
              <a:t>—— 从读书、实习到就业始终围绕材料，做科研者与市场从业者之间的桥梁</a:t>
            </a:r>
          </a:p>
        </p:txBody>
      </p:sp>
      <p:sp>
        <p:nvSpPr>
          <p:cNvPr id="37" name="Oval 36"/>
          <p:cNvSpPr/>
          <p:nvPr/>
        </p:nvSpPr>
        <p:spPr>
          <a:xfrm>
            <a:off x="3246120" y="4892040"/>
            <a:ext cx="548640" cy="548640"/>
          </a:xfrm>
          <a:prstGeom prst="ellipse">
            <a:avLst/>
          </a:prstGeom>
          <a:solidFill>
            <a:srgbClr val="F7F2E9"/>
          </a:solidFill>
          <a:ln w="15240">
            <a:solidFill>
              <a:srgbClr val="C7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C5F8F"/>
                </a:solidFill>
                <a:latin typeface="Microsoft YaHei"/>
                <a:ea typeface="Microsoft YaHei"/>
              </a:rPr>
              <a:t>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50791" y="4846320"/>
            <a:ext cx="7223760" cy="38404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550" b="1">
                <a:solidFill>
                  <a:srgbClr val="20344B"/>
                </a:solidFill>
                <a:latin typeface="Microsoft YaHei"/>
                <a:ea typeface="Microsoft YaHei"/>
              </a:rPr>
              <a:t>「AI 的底层，也是材料。」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50791" y="5230368"/>
            <a:ext cx="7223760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150" b="0">
                <a:solidFill>
                  <a:srgbClr val="7C8B9A"/>
                </a:solidFill>
                <a:latin typeface="Microsoft YaHei"/>
                <a:ea typeface="Microsoft YaHei"/>
              </a:rPr>
              <a:t>—— 芯片是硅做的，硅来自沙子；去找「导热不导电」的材料，这就是创新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2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172.07999999999998,&quot;left&quot;:192.25,&quot;top&quot;:206.64000000000001,&quot;width&quot;:696.95}"/>
</p:tagLst>
</file>

<file path=ppt/tags/tag2.xml><?xml version="1.0" encoding="utf-8"?>
<p:tagLst xmlns:p="http://schemas.openxmlformats.org/presentationml/2006/main">
  <p:tag name="KSO_WM_DIAGRAM_VIRTUALLY_FRAME" val="{&quot;height&quot;:172.07999999999998,&quot;left&quot;:192.25,&quot;top&quot;:206.64000000000001,&quot;width&quot;:696.95}"/>
</p:tagLst>
</file>

<file path=ppt/tags/tag3.xml><?xml version="1.0" encoding="utf-8"?>
<p:tagLst xmlns:p="http://schemas.openxmlformats.org/presentationml/2006/main">
  <p:tag name="KSO_WM_DIAGRAM_VIRTUALLY_FRAME" val="{&quot;height&quot;:172.07999999999998,&quot;left&quot;:192.25,&quot;top&quot;:206.64000000000001,&quot;width&quot;:696.95}"/>
</p:tagLst>
</file>

<file path=ppt/tags/tag4.xml><?xml version="1.0" encoding="utf-8"?>
<p:tagLst xmlns:p="http://schemas.openxmlformats.org/presentationml/2006/main">
  <p:tag name="KSO_WM_DIAGRAM_VIRTUALLY_FRAME" val="{&quot;height&quot;:172.07999999999998,&quot;left&quot;:192.25,&quot;top&quot;:206.64000000000001,&quot;width&quot;:696.95}"/>
</p:tagLst>
</file>

<file path=ppt/tags/tag5.xml><?xml version="1.0" encoding="utf-8"?>
<p:tagLst xmlns:p="http://schemas.openxmlformats.org/presentationml/2006/main">
  <p:tag name="KSO_WM_DIAGRAM_VIRTUALLY_FRAME" val="{&quot;height&quot;:172.07999999999998,&quot;left&quot;:192.25,&quot;top&quot;:206.64000000000001,&quot;width&quot;:696.95}"/>
</p:tagLst>
</file>

<file path=ppt/tags/tag6.xml><?xml version="1.0" encoding="utf-8"?>
<p:tagLst xmlns:p="http://schemas.openxmlformats.org/presentationml/2006/main">
  <p:tag name="KSO_WM_DIAGRAM_VIRTUALLY_FRAME" val="{&quot;height&quot;:172.07999999999998,&quot;left&quot;:192.25,&quot;top&quot;:206.64000000000001,&quot;width&quot;:696.95}"/>
</p:tagLst>
</file>

<file path=ppt/tags/tag7.xml><?xml version="1.0" encoding="utf-8"?>
<p:tagLst xmlns:p="http://schemas.openxmlformats.org/presentationml/2006/main">
  <p:tag name="KSO_WM_DIAGRAM_VIRTUALLY_FRAME" val="{&quot;height&quot;:172.07999999999998,&quot;left&quot;:192.25,&quot;top&quot;:206.64000000000001,&quot;width&quot;:696.95}"/>
</p:tagLst>
</file>

<file path=ppt/tags/tag8.xml><?xml version="1.0" encoding="utf-8"?>
<p:tagLst xmlns:p="http://schemas.openxmlformats.org/presentationml/2006/main">
  <p:tag name="KSO_WM_DIAGRAM_VIRTUALLY_FRAME" val="{&quot;height&quot;:172.07999999999998,&quot;left&quot;:192.25,&quot;top&quot;:206.64000000000001,&quot;width&quot;:696.95}"/>
</p:tagLst>
</file>

<file path=ppt/tags/tag9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10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11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12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13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14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15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16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17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18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19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20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21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ags/tag22.xml><?xml version="1.0" encoding="utf-8"?>
<p:tagLst xmlns:p="http://schemas.openxmlformats.org/presentationml/2006/main">
  <p:tag name="KSO_WM_DIAGRAM_VIRTUALLY_FRAME" val="{&quot;height&quot;:252,&quot;left&quot;:219.05,&quot;top&quot;:187.2,&quot;width&quot;:709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1149</Words>
  <Application>WPS 演示</Application>
  <PresentationFormat>宽屏</PresentationFormat>
  <Paragraphs>194</Paragraphs>
  <Slides>10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</vt:lpstr>
      <vt:lpstr>楷体</vt:lpstr>
      <vt:lpstr>Arial</vt:lpstr>
      <vt:lpstr>Arial</vt:lpstr>
      <vt:lpstr>楷体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WPS_1647301536</cp:lastModifiedBy>
  <cp:revision>12</cp:revision>
  <dcterms:created xsi:type="dcterms:W3CDTF">2026-10-11T05:09:00Z</dcterms:created>
  <dcterms:modified xsi:type="dcterms:W3CDTF">2026-10-15T14:28:40Z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DE077EBE6C614E55B325B21C79166FA9_13</vt:lpwstr>
  </property>
</Properties>
</file>